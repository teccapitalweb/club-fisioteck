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8f377a45-e4ca-8c62-69a6-4a748d35036f}">
          <p14:sldIdLst>
            <p14:sldId id="256"/>
          </p14:sldIdLst>
        </p14:section>
        <p14:section name="Objetivos" id="{0a4a6792-6c53-5f56-cee7-f55a83f53a70}">
          <p14:sldIdLst>
            <p14:sldId id="257"/>
            <p14:sldId id="258"/>
          </p14:sldIdLst>
        </p14:section>
        <p14:section name="Entrevista" id="{85c86f78-c6ae-7a56-e315-f95eaf3ca111}">
          <p14:sldIdLst>
            <p14:sldId id="259"/>
          </p14:sldIdLst>
        </p14:section>
        <p14:section name="Inspección" id="{5bcff885-615b-2f71-f155-aa81e09eeaac}">
          <p14:sldIdLst>
            <p14:sldId id="260"/>
          </p14:sldIdLst>
        </p14:section>
        <p14:section name="Palpación" id="{df0bc779-1ec0-6f92-8aa1-248f623258e0}">
          <p14:sldIdLst>
            <p14:sldId id="261"/>
          </p14:sldIdLst>
        </p14:section>
        <p14:section name="Movimiento" id="{5638d292-f6af-9d93-8403-b1c7e369f954}">
          <p14:sldIdLst>
            <p14:sldId id="262"/>
            <p14:sldId id="263"/>
          </p14:sldIdLst>
        </p14:section>
        <p14:section name="Fuerza" id="{2bf1b7ac-451f-6b88-7538-81a5df059bde}">
          <p14:sldIdLst>
            <p14:sldId id="264"/>
          </p14:sldIdLst>
        </p14:section>
        <p14:section name="Pruebas" id="{ad4d7bb8-cc66-cd32-99dc-aad977b6a374}">
          <p14:sldIdLst>
            <p14:sldId id="265"/>
          </p14:sldIdLst>
        </p14:section>
        <p14:section name="Caso" id="{8c53ac78-1a3b-0567-662c-cfa8f0ca6155}">
          <p14:sldIdLst>
            <p14:sldId id="266"/>
            <p14:sldId id="267"/>
          </p14:sldIdLst>
        </p14:section>
        <p14:section name="Documentación" id="{27ebcaa9-0bc4-3ef6-74e5-1e1f94310358}">
          <p14:sldIdLst>
            <p14:sldId id="268"/>
          </p14:sldIdLst>
        </p14:section>
        <p14:section name="Conclusión" id="{43877987-8e7d-bdeb-0e93-1a5e42fe20ce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Bienvenidos a esta presentación sobre los fundamentos de la valoración fisioterapéutica. Revisaremos los componentes clave de una evaluación integral.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cinco objetivos principales que abordaremos. Al final podrás realizar una valoración básica de manera sistemática.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mapa de la presentación. Seguiremos una secuencia lógica que refleja cómo se realiza una valoración en la práctica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entrevista es el pilar de la valoración. Debemos escuchar activamente antes de tocar. Las preguntas abiertas revelan más información que las cerradas.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inspección comienza desde que el paciente entra al consultorio. Observa su postura, cómo camina, la expresión de su cara y cómo se sienta.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palpación debe ser sistemática. Siempre compara el lado afectado con el sano. Pide retroalimentación constante al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Siempre evalúa primero el movimiento activo y luego el pasivo. La diferencia entre ambos te da información clave sobre el origen de la limitación.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goniometría requiere práctica. Utiliza puntos de referencia óseos consistentes. Siempre registra los valores para comparar en reevaluaciones.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escala de Daniels es la más utilizada. Requiere posicionar al paciente correctamente según el grado que quieres evaluar. Siempre compara ambos 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especiales tienen sensibilidad y especificidad variable. Úsalas como parte del razonamiento clínico, nunca como dato aislado.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caso ilustra un cuadro clínico sugestivo de síndrome de pinzamiento subacromial. Observa cómo cada componente aporta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 cómo integramos todos los hallazgos para llegar a un razonamiento clínico coherente. El diagnóstico fisioterapéutico es funcional, no médico.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documentación es parte esencial de la práctica profesional. Protege al paciente y al terapeuta, y permite dar seguimiento a la evolución.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resumiendo los puntos más importantes. La valoración es la base de todo plan de tratamiento exitoso.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 a los participantes a visitar club.fisioteck.com para más recursos, cursos y material gratuito de fisioterapia.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800" b="1" dirty="0">
                <a:solidFill>
                  <a:srgbClr val="159E92"/>
                </a:solidFill>
              </a:rPr>
              <a:t>TECK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Introducción a la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Valoración Fisioterapéutica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9E92"/>
                </a:solidFill>
              </a:rPr>
              <a:t>Entrevista · Inspección · Palpación · Movimiento · Fuerza · Pruebas especiales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Objetivos de Aprendizaje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Conocer los componentes de una valoración fisioterapéutica integral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Aplicar correctamente la secuencia de exploración clínica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Identificar hallazgos relevantes en cada etapa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Documentar los hallazgos de forma clara y sistemática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Integrar los hallazgos en un razonamiento clínico inicial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Contenido de la Presentación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0D5FA0"/>
          </a:solidFill>
          <a:ln/>
          <a:effectLst>
            <a:outerShdw sx="100000" sy="100000" kx="0" ky="0" algn="bl" rotWithShape="0" blurRad="50800" dist="25400" dir="8100000">
              <a:srgbClr val="999999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Entrevista clínica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59E92"/>
          </a:solidFill>
          <a:ln/>
          <a:effectLst>
            <a:outerShdw sx="100000" sy="100000" kx="0" ky="0" algn="bl" rotWithShape="0" blurRad="50800" dist="25400" dir="8100000">
              <a:srgbClr val="999999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Inspección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C2760B"/>
          </a:solidFill>
          <a:ln/>
          <a:effectLst>
            <a:outerShdw sx="100000" sy="100000" kx="0" ky="0" algn="bl" rotWithShape="0" blurRad="50800" dist="25400" dir="8100000">
              <a:srgbClr val="999999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Palpación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980B9"/>
          </a:solidFill>
          <a:ln/>
          <a:effectLst>
            <a:outerShdw sx="100000" sy="100000" kx="0" ky="0" algn="bl" rotWithShape="0" blurRad="50800" dist="25400" dir="8100000">
              <a:srgbClr val="999999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Movimiento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74720" y="3017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BC9C"/>
          </a:solidFill>
          <a:ln/>
          <a:effectLst>
            <a:outerShdw sx="100000" sy="100000" kx="0" ky="0" algn="bl" rotWithShape="0" blurRad="50800" dist="25400" dir="8100000">
              <a:srgbClr val="999999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61188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Fuerza muscular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E67E22"/>
          </a:solidFill>
          <a:ln/>
          <a:effectLst>
            <a:outerShdw sx="100000" sy="100000" kx="0" ky="0" algn="bl" rotWithShape="0" blurRad="50800" dist="25400" dir="8100000">
              <a:srgbClr val="999999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4652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Pruebas especiales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Entrevista Clínica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El primer contacto: escuchar antes de explorar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2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FA0"/>
                </a:solidFill>
              </a:rPr>
              <a:t>Qué preguntar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0223A"/>
                </a:solidFill>
              </a:rPr>
              <a:t>Motivo de consulta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Inicio, localización e intensidad del dolor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Antecedentes personales y familiares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Medicamentos y tratamientos previos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Expectativas y objetivos del paciente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2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E92"/>
                </a:solidFill>
              </a:rPr>
              <a:t>Cómo hacerlo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402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0223A"/>
                </a:solidFill>
              </a:rPr>
              <a:t>Preguntas abiertas al inicio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Escucha activa, sin interrumpir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Preguntas cerradas para precisar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Usar lenguaje claro para el paciente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Observar la comunicación no verbal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Inspección Visual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Observar sistemáticamente antes de tocar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FA0"/>
                </a:solidFill>
              </a:rPr>
              <a:t>Postura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Alineación segmentaria, simetría, desviaciones en plano frontal, sagital y transverso.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11480" cy="41148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E92"/>
                </a:solidFill>
              </a:rPr>
              <a:t>Marcha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Patrón, velocidad, base de sustentación, fases del ciclo, compensaciones.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C274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740B"/>
                </a:solidFill>
              </a:rPr>
              <a:t>Piel y tejidos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Color, cicatrices, edema visible, atrofia muscular, deformidades.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411480" cy="41148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</a:rPr>
              <a:t>Actitud y conducta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Posición antalgica, expresión facial, disposición al movimiento.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Palpación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0D5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Temperatura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Comparar bilateralmente. Aumento puede indicar inflamación.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0D5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Tono muscular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148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Valorar tono en reposo y con movimiento pasivo. Identificar hipertonía o hipotonía.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0D5F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Puntos dolorosos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743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Localizar con precisión. Registrar la intensidad con EVA y la localización exacta.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0D5F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Edema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337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Observar consistencia (blando, duro), extensión y si deja fóvea.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0D5F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Estructuras óseas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Seguir las referencias anatómicas para identificar crepitaciones o desplazamientos.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Evaluación del Movimiento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2834640"/>
          </a:xfrm>
          <a:prstGeom prst="roundRect">
            <a:avLst>
              <a:gd name="adj" fmla="val 3226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FA0"/>
                </a:solidFill>
              </a:rPr>
              <a:t>Movimiento activo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El paciente mueve por sí mismo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Evalúa voluntad, control y rango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Observa compensaciones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Registra el rango alcanzado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Pregunta si produce dolor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840480" cy="2834640"/>
          </a:xfrm>
          <a:prstGeom prst="roundRect">
            <a:avLst>
              <a:gd name="adj" fmla="val 3226"/>
            </a:avLst>
          </a:prstGeom>
          <a:solidFill>
            <a:srgbClr val="F2F6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E92"/>
                </a:solidFill>
              </a:rPr>
              <a:t>Movimiento pasivo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031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El terapeuta mueve la articulación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Evalúa la integridad articular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Identifica la sensación de tope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Compara con el lado contralateral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Diferencia limitación articular vs muscular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Goniometría: Medir con Precisión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Articulación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Movimiento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Rango normal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Hombro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Flexión / Extensión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0-180° / 0-60°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Hombro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Abducción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0-180°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Codo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Flexión / Extensión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0-150° / 0°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Muñeca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Flexión / Extensión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0-80° / 0-70°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Cadera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Flexión / Extensión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0-120° / 0-30°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Rodilla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Flexión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0-135°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Tobillo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Dorsiflexión / Plantiflexión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0-20° / 0-50°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Valores de referencia de uso clínico común. Pueden variar entre individuos.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Evaluación de Fuerza Muscular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Escala de Daniels / MRC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" cy="411480"/>
          </a:xfrm>
          <a:prstGeom prst="roundRect">
            <a:avLst>
              <a:gd name="adj" fmla="val 11111"/>
            </a:avLst>
          </a:prstGeom>
          <a:solidFill>
            <a:srgbClr val="E74C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3A"/>
                </a:solidFill>
              </a:rPr>
              <a:t>Nula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645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Sin contracción visible ni palpable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48640" cy="411480"/>
          </a:xfrm>
          <a:prstGeom prst="roundRect">
            <a:avLst>
              <a:gd name="adj" fmla="val 11111"/>
            </a:avLst>
          </a:prstGeom>
          <a:solidFill>
            <a:srgbClr val="E67E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148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3A"/>
                </a:solidFill>
              </a:rPr>
              <a:t>Vestigio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148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Contracción palpable, sin movimiento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48640" cy="411480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651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3A"/>
                </a:solidFill>
              </a:rPr>
              <a:t>Pobre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2651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Movimiento completo sin gravedad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548640" cy="411480"/>
          </a:xfrm>
          <a:prstGeom prst="roundRect">
            <a:avLst>
              <a:gd name="adj" fmla="val 11111"/>
            </a:avLst>
          </a:prstGeom>
          <a:solidFill>
            <a:srgbClr val="C276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154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3A"/>
                </a:solidFill>
              </a:rPr>
              <a:t>Regular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Movimiento completo contra gravedad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548640" cy="411480"/>
          </a:xfrm>
          <a:prstGeom prst="roundRect">
            <a:avLst>
              <a:gd name="adj" fmla="val 11111"/>
            </a:avLst>
          </a:prstGeom>
          <a:solidFill>
            <a:srgbClr val="159E9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657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3A"/>
                </a:solidFill>
              </a:rPr>
              <a:t>Buena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Movimiento contra resistencia moderada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548640" cy="411480"/>
          </a:xfrm>
          <a:prstGeom prst="roundRect">
            <a:avLst>
              <a:gd name="adj" fmla="val 11111"/>
            </a:avLst>
          </a:prstGeom>
          <a:solidFill>
            <a:srgbClr val="0D5FA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160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3A"/>
                </a:solidFill>
              </a:rPr>
              <a:t>Normal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4160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Movimiento contra resistencia máxima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Pruebas Especiales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Complementan la exploración básica. No son diagnósticas por sí solas.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FA0"/>
                </a:solidFill>
              </a:rPr>
              <a:t>Hombro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737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Neer, Hawkins-Kennedy, Speed, Jobe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FA0"/>
                </a:solidFill>
              </a:rPr>
              <a:t>Codo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240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Cozen, Mill, prueba de valgo/varo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FA0"/>
                </a:solidFill>
              </a:rPr>
              <a:t>Muñeca / Mano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743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Phalen, Tinel, Finkelstein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FA0"/>
                </a:solidFill>
              </a:rPr>
              <a:t>Cadera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246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Thomas, Ober, FABER/Patrick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FA0"/>
                </a:solidFill>
              </a:rPr>
              <a:t>Rodilla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3749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Lachman, McMurray, cajones, valgo/varo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FA0"/>
                </a:solidFill>
              </a:rPr>
              <a:t>Columna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251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Lasègue (SLR), Slump, Spurling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8333"/>
            </a:avLst>
          </a:prstGeom>
          <a:solidFill>
            <a:srgbClr val="FFF3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760B"/>
                </a:solidFill>
              </a:rPr>
              <a:t>Recuerda: una prueba positiva no es un diagnóstico. Siempre integra con el resto de la valoración.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Caso Clínico: Dolor de Hombro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CCCCCC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Datos del paciente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Mujer, 45 años, oficinista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Dolor en hombro derecho, 3 meses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Inicio insidioso, sin trauma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Peor al peinarse y alcanzar objetos altos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EVA: 6/10 en arco doloroso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Sin antecedentes relevantes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CCCCCC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Hallazgos de exploración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Inspección: postura con hombro elevado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ROM activo: flexión 140°, abd. 120°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ROM pasivo: flexión 170°, abd. 170°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Arco doloroso: 70-120° de abd.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Fuerza: rot. ext. 4/5, resto 5/5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0223A"/>
                </a:solidFill>
              </a:rPr>
              <a:t>Neer (+), Hawkins (+), Jobe (-)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Caso Clínico: Razonamiento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DDDDDD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73152" cy="685800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FA0"/>
                </a:solidFill>
              </a:rPr>
              <a:t>Hipótesis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Síndrome de dolor subacromial con posible compromiso del manguito rotador.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DDDDDD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73152" cy="68580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Banderas rojas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06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Descartadas: sin pérdida de peso, sin fiebre, sin trauma, sin déficit neurológico.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DDDDDD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73152" cy="685800"/>
          </a:xfrm>
          <a:prstGeom prst="roundRect">
            <a:avLst/>
          </a:prstGeom>
          <a:solidFill>
            <a:srgbClr val="159E9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9E92"/>
                </a:solidFill>
              </a:rPr>
              <a:t>Diagnóstico FT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29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Limitación funcional de hombro derecho con dolor en arco medio y déficit de fuerza en rotadores.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DDDDDD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931920"/>
            <a:ext cx="73152" cy="685800"/>
          </a:xfrm>
          <a:prstGeom prst="roundRect">
            <a:avLst/>
          </a:prstGeom>
          <a:solidFill>
            <a:srgbClr val="C276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760B"/>
                </a:solidFill>
              </a:rPr>
              <a:t>Plan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51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Ejercicios de fortalecimiento del manguito rotador, corrección postural, educar sobre ergon. laboral.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Documentación de Hallazgos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FA0"/>
                </a:solidFill>
              </a:rPr>
              <a:t>Historia clínica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Formato completo con datos del paciente, motivo, antecedentes y exploración.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FA0"/>
                </a:solidFill>
              </a:rPr>
              <a:t>Nota SOAP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57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Subjetivo, Objetivo, Análisis, Plan. Formato estándar para notas de evolución.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FA0"/>
                </a:solidFill>
              </a:rPr>
              <a:t>Mediciones objetivas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20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Registrar ROM, fuerza, EVA y escalas funcionales con valores numéricos.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FA0"/>
                </a:solidFill>
              </a:rPr>
              <a:t>Consentimiento informado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520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Explicar procedimientos, riesgos y alternativas. Obtener firma.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Puntos 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2704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 valoración es sistemática: entrevista → inspección → palpación → movimiento → fuerza → pruebas especiales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Siempre escucha antes de explorar y compara bilateralmente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1576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Las pruebas especiales complementan, no sustituyen la exploración básica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Documenta todo: lo que no se registra, no existe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0448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904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Integra los hallazgos con razonamiento clínico, no con recetas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Material educativo. No sustituye el criterio clínico ni los protocolos de tu institución.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800" b="1" dirty="0">
                <a:solidFill>
                  <a:srgbClr val="159E92"/>
                </a:solidFill>
              </a:rPr>
              <a:t>TECK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Para Seguir Aprendiendo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9E92"/>
                </a:solidFill>
              </a:rPr>
              <a:t>Visita nuestro club de educación continua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club.fisioteck.com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AED4"/>
                </a:solidFill>
              </a:rPr>
              <a:t>Cursos · Materiales gratuitos · Comunidad profesional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Material educativo. No sustituye el criterio clínico ni los protocolos de tu institución.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sioTeck">
  <a:themeElements>
    <a:clrScheme name="FisioTeck">
      <a:dk1>
        <a:srgbClr val="10223A"/>
      </a:dk1>
      <a:lt1>
        <a:srgbClr val="FFFFFF"/>
      </a:lt1>
      <a:dk2>
        <a:srgbClr val="0A3E68"/>
      </a:dk2>
      <a:lt2>
        <a:srgbClr val="F2F6FA"/>
      </a:lt2>
      <a:accent1>
        <a:srgbClr val="0D5FA0"/>
      </a:accent1>
      <a:accent2>
        <a:srgbClr val="159E92"/>
      </a:accent2>
      <a:accent3>
        <a:srgbClr val="C2760B"/>
      </a:accent3>
      <a:accent4>
        <a:srgbClr val="2980B9"/>
      </a:accent4>
      <a:accent5>
        <a:srgbClr val="1ABC9C"/>
      </a:accent5>
      <a:accent6>
        <a:srgbClr val="E67E22"/>
      </a:accent6>
      <a:hlink>
        <a:srgbClr val="0D5FA0"/>
      </a:hlink>
      <a:folHlink>
        <a:srgbClr val="159E92"/>
      </a:folHlink>
    </a:clrScheme>
    <a:fontScheme name="FisioTe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FisioTeck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Valoración Fisioterapéutica</dc:title>
  <dc:subject>Introducción a la Valoración Fisioterapéutica</dc:subject>
  <dc:creator>FisioTeck Club</dc:creator>
  <cp:lastModifiedBy>FisioTeck Club</cp:lastModifiedBy>
  <cp:revision>1</cp:revision>
  <dcterms:created xsi:type="dcterms:W3CDTF">2026-10-27T17:35:05Z</dcterms:created>
  <dcterms:modified xsi:type="dcterms:W3CDTF">2026-10-27T17:35:05Z</dcterms:modified>
</cp:coreProperties>
</file>