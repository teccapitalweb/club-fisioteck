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7b29fa4b-fea7-867b-241c-789af580d3b4}">
          <p14:sldIdLst>
            <p14:sldId id="256"/>
          </p14:sldIdLst>
        </p14:section>
        <p14:section name="Importancia" id="{ea98ad89-2cb8-dad8-c268-daa253eac140}">
          <p14:sldIdLst>
            <p14:sldId id="257"/>
          </p14:sldIdLst>
        </p14:section>
        <p14:section name="Postura" id="{15a40aa6-48ab-4c3b-fd0c-7a01c90e7d68}">
          <p14:sldIdLst>
            <p14:sldId id="258"/>
            <p14:sldId id="259"/>
          </p14:sldIdLst>
        </p14:section>
        <p14:section name="Errores" id="{30c1d4b9-f7df-97fe-3894-c271708e8bb5}">
          <p14:sldIdLst>
            <p14:sldId id="260"/>
          </p14:sldIdLst>
        </p14:section>
        <p14:section name="Pausas" id="{85e4a063-1f8b-d746-6a24-95909487d411}">
          <p14:sldIdLst>
            <p14:sldId id="261"/>
            <p14:sldId id="262"/>
          </p14:sldIdLst>
        </p14:section>
        <p14:section name="Dispositivos" id="{18e66038-757f-9542-cb81-16e66e7208e4}">
          <p14:sldIdLst>
            <p14:sldId id="263"/>
          </p14:sldIdLst>
        </p14:section>
        <p14:section name="Descanso" id="{50feaab8-2fc5-691d-41d8-b662e8cf8555}">
          <p14:sldIdLst>
            <p14:sldId id="264"/>
          </p14:sldIdLst>
        </p14:section>
        <p14:section name="Carga" id="{2eeb5f81-c1ad-b698-5740-979b3b02f91d}">
          <p14:sldIdLst>
            <p14:sldId id="265"/>
          </p14:sldIdLst>
        </p14:section>
        <p14:section name="Visual" id="{144575a8-2b21-1b8e-7e76-22dfe160454e}">
          <p14:sldIdLst>
            <p14:sldId id="266"/>
          </p14:sldIdLst>
        </p14:section>
        <p14:section name="Conclusión" id="{4c61da6f-c74e-f3e6-4f70-a67ac1700ad1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Charla pensada para proyectar en sala de espera o en sesiones educativas con pacientes. Lenguaje sencillo y directo.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datos ayudan a concientizar al paciente. La postura no es estática: lo importante es variar posiciones y moverse frecuentemente.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postura ideal es dinámica: no existe una postura perfecta permanente. Lo mejor es cambiar de posición frecuentemente.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buen ajuste del puesto de trabajo reduce significativamente la carga sobre el cuello, hombros y espalda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errores más frecuentes que vemos en consulta. Cada uno tiene una solución sencilla y gratuita.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pausas activas son una de las intervenciones más sencillas y efectivas. La clave es hacerlas cada 45-60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ejercicios son seguros para la mayoría de las personas. Si alguno produce dolor, se debe omitir y consultar al fisioterapeuta.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text neck es una problemática creciente. La carga sobre las cervicales aumenta con cada grado de flexión.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posición al dormir puede influir en dolores crónicos de cuello y espalda. La posición lateral con apoyo es la más segura para la mayoría.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técnica correcta de levantamiento protege la columna lumbar. Es especialmente importante cuando el objeto es pesado o está en el suelo.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20-20-20 es una guía sencilla para reducir la fatiga visual por uso prolongado de pantallas. Muy fácil de recordar para los pacientes.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cinco mensajes resumen los cambios más importantes que cualquier paciente puede hacer hoy mismo para cuidar su postura.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 a los pacientes a conocer más recursos en club.fisioteck.com.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800" b="1" dirty="0">
                <a:solidFill>
                  <a:srgbClr val="159E92"/>
                </a:solidFill>
              </a:rPr>
              <a:t>TECK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Ergonomía y Postura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para Pacientes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9E92"/>
                </a:solidFill>
              </a:rPr>
              <a:t>Cuida tu cuerpo mientras trabajas · Pausas activas · Ergonomía de oficina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¿Por Qué Importa la Postura?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5FA0"/>
                </a:solidFill>
              </a:rPr>
              <a:t>8+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5FA0"/>
                </a:solidFill>
              </a:rPr>
              <a:t>horas/día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Tiempo promedio sentado en oficina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59E92"/>
                </a:solidFill>
              </a:rPr>
              <a:t>80%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De adultos experimentan dolor de espalda en algún momento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2760B"/>
                </a:solidFill>
              </a:rPr>
              <a:t>30%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De las lesiones laborales son musculoesqueléticas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La buena noticia: pequeños cambios hacen gran diferencia.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Postura Correcta al Estar Sentado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90472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Cabeza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4173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Alineada sobre los hombros, sin inclinar hacia adelante. Mentón ligeramente recogido.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039112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Hombros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19659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Relajados, no elevados ni encorvados hacia adelante.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8046720" cy="50292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587752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Espalda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25146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Apoyada en el respaldo. Mantener las curvas naturales de la columna.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136392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Codos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834640" y="30632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Flexionados a 90°, cercanos al cuerpo. Antebrazos apoyados.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685032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Cadera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36118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Al fondo del asiento, con los muslos paralelos al piso.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4233672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Pies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834640" y="41605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Apoyados completamente en el piso o en un descansapiés.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Ajusta Tu Estación de Trabajo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0" cy="54864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FA0"/>
                </a:solidFill>
              </a:rPr>
              <a:t>Monitor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 la altura de los ojos, a un brazo de distancia. El borde superior a la altura de tus ojos.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F2F6F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463040"/>
            <a:ext cx="3840480" cy="54864"/>
          </a:xfrm>
          <a:prstGeom prst="roundRect">
            <a:avLst/>
          </a:prstGeom>
          <a:solidFill>
            <a:srgbClr val="159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9E92"/>
                </a:solidFill>
              </a:rPr>
              <a:t>Teclado y ratón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 la misma altura, que permita codos a 90°. Muñecas en posición neutral.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F2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926080"/>
            <a:ext cx="3840480" cy="54864"/>
          </a:xfrm>
          <a:prstGeom prst="roundRect">
            <a:avLst/>
          </a:prstGeom>
          <a:solidFill>
            <a:srgbClr val="C276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760B"/>
                </a:solidFill>
              </a:rPr>
              <a:t>Silla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29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Con soporte lumbar, altura ajustable. Muslos paralelos al suelo.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F2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926080"/>
            <a:ext cx="3840480" cy="54864"/>
          </a:xfrm>
          <a:prstGeom prst="round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</a:rPr>
              <a:t>Iluminación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29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Sin reflejos en la pantalla. Luz natural por el costado, nunca de frente ni de espalda.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Errores Más Comunes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</a:rPr>
              <a:t>✗  Cruzar las piernas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AE60"/>
                </a:solidFill>
              </a:rPr>
              <a:t>✓  Pies apoyados en el piso, paralelos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299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</a:rPr>
              <a:t>✗  Monitor muy bajo (mirar hacia abajo)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029968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20299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AE60"/>
                </a:solidFill>
              </a:rPr>
              <a:t>✓  Elevarlo con libros o soporte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6883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</a:rPr>
              <a:t>✗  Hombros tensos y elevados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688336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26883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AE60"/>
                </a:solidFill>
              </a:rPr>
              <a:t>✓  Relajar hombros, apoyar antebrazos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3467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</a:rPr>
              <a:t>✗  Encorvarse hacia adelante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346704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7760" y="33467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AE60"/>
                </a:solidFill>
              </a:rPr>
              <a:t>✓  Usar respaldo con soporte lumbar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005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</a:rPr>
              <a:t>✗  Teléfono entre hombro y oreja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4005072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37760" y="4005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AE60"/>
                </a:solidFill>
              </a:rPr>
              <a:t>✓  Usar manos libres o altavoz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¿Qué Son las Pausas Activas?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3E68"/>
                </a:solidFill>
              </a:rPr>
              <a:t>Descansos breves (3-5 min) con movimiento suave, diseñados para romper periodos prolongados de inactividad y reducir la fatiga muscular.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DDDDD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73152" cy="868680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Reducen tensión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Relajan músculos de cuello, hombros y espalda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DDDDD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377440"/>
            <a:ext cx="73152" cy="868680"/>
          </a:xfrm>
          <a:prstGeom prst="roundRect">
            <a:avLst/>
          </a:prstGeom>
          <a:solidFill>
            <a:srgbClr val="159E9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8348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Mejoran circulación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Previenen retención de líquidos y fatiga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DDDDDD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429000"/>
            <a:ext cx="73152" cy="868680"/>
          </a:xfrm>
          <a:prstGeom prst="roundRect">
            <a:avLst/>
          </a:prstGeom>
          <a:solidFill>
            <a:srgbClr val="C276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60B"/>
                </a:solidFill>
              </a:rPr>
              <a:t>Aumentan productividad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Mejoran la concentración y el estado de ánimo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42900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DDDDDD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429000"/>
            <a:ext cx="73152" cy="868680"/>
          </a:xfrm>
          <a:prstGeom prst="roundRect">
            <a:avLst/>
          </a:prstGeom>
          <a:solidFill>
            <a:srgbClr val="2980B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8348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</a:rPr>
              <a:t>Previenen lesiones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Reducen riesgo de trastornos musculoesqueléticos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Rutina de Pausas Activas (5 min)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Haz cada ejercicio durante 30 segundos. Repítelos cada 45-60 minutos.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FA0"/>
                </a:solidFill>
              </a:rPr>
              <a:t>Giros de cuello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45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Gira la cabeza lentamente de lado a lado. Mantén 5 segundos en cada lado.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21992"/>
            <a:ext cx="365760" cy="36576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1762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9E92"/>
                </a:solidFill>
              </a:rPr>
              <a:t>Encogimiento de hombros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762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Sube los hombros hacia las orejas, mantén 5 seg, suelta. Repite 5 veces.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52344"/>
            <a:ext cx="365760" cy="365760"/>
          </a:xfrm>
          <a:prstGeom prst="ellipse">
            <a:avLst/>
          </a:prstGeom>
          <a:solidFill>
            <a:srgbClr val="C276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760B"/>
                </a:solidFill>
              </a:rPr>
              <a:t>Estiramiento de pectorales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7066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Manos detrás de la cabeza, abre los codos hacia atrás. Mantén 15 seg.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82696"/>
            <a:ext cx="365760" cy="36576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369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</a:rPr>
              <a:t>Rotación de tronco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2369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Sentado, gira el tronco hacia un lado sujetando el respaldo. 15 seg cada lado.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813048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</a:rPr>
              <a:t>Extensión de muñecas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7673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Extiende un brazo, con la otra mano tira los dedos hacia atrás. 15 seg cada mano.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Ponté de pie y camina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Levántate, camina unos pasos, estira las piernas. Mueve los tobillos.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Postura al Usar el Celular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El «text neck»: un problema cada vez más común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760B"/>
                </a:solidFill>
              </a:rPr>
              <a:t>Al inclinar la cabeza 45° hacia adelante, el cuello soporta el equivalente a ~22 kg de carga (en lugar de ~5 kg en posición neutra).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384048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Eleva el teléfono a la altura de los ojos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73152" cy="384048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3832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Limita el tiempo de uso continuo a 15-20 minutos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73152" cy="384048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8404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Alterna manos para evitar sobrecarga asimétrica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73152" cy="384048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2976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Haz pausas para estirar cuello y hombros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Postura al Dormir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E68"/>
                </a:solidFill>
              </a:rPr>
              <a:t>De lado (lateral)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15087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Recomendada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Almohada que mantenga la cabeza alineada con la columna. Cojín entre las rodillas.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E68"/>
                </a:solidFill>
              </a:rPr>
              <a:t>Boca arriba (supino)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0" y="25146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Buena opción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880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Almohada delgada bajo la cabeza. Cojín bajo las rodillas para reducir tensión lumbar.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E68"/>
                </a:solidFill>
              </a:rPr>
              <a:t>Boca abajo (prono)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49440" y="35204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recomendada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Aumenta la carga sobre el cuello y la columna lumbar. Evitar si es posible.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Cómo Levantar Objetos del Suelo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02920"/>
          </a:xfrm>
          <a:prstGeom prst="roundRect">
            <a:avLst>
              <a:gd name="adj" fmla="val 9091"/>
            </a:avLst>
          </a:prstGeom>
          <a:solidFill>
            <a:srgbClr val="0D5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Acércate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371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Colócate frente al objeto, con los pies separados al ancho de los hombros.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48640" cy="502920"/>
          </a:xfrm>
          <a:prstGeom prst="roundRect">
            <a:avLst>
              <a:gd name="adj" fmla="val 9091"/>
            </a:avLst>
          </a:prstGeom>
          <a:solidFill>
            <a:srgbClr val="159E9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0299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29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Flexiona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0299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Dobla las rodillas, no la espalda. Baja con la cadera como si te sentaras.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548640" cy="502920"/>
          </a:xfrm>
          <a:prstGeom prst="roundRect">
            <a:avLst>
              <a:gd name="adj" fmla="val 9091"/>
            </a:avLst>
          </a:prstGeom>
          <a:solidFill>
            <a:srgbClr val="C276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6883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6883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60B"/>
                </a:solidFill>
              </a:rPr>
              <a:t>Agarra firme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268833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Sujeta el objeto con ambas manos, cerca del cuerpo.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548640" cy="502920"/>
          </a:xfrm>
          <a:prstGeom prst="roundRect">
            <a:avLst>
              <a:gd name="adj" fmla="val 9091"/>
            </a:avLst>
          </a:prstGeom>
          <a:solidFill>
            <a:srgbClr val="2980B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467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3467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</a:rPr>
              <a:t>Levanta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34670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Empuja con las piernas, manteniéndo la espalda recta. Exhala al subir.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548640" cy="502920"/>
          </a:xfrm>
          <a:prstGeom prst="roundRect">
            <a:avLst>
              <a:gd name="adj" fmla="val 9091"/>
            </a:avLst>
          </a:prstGeom>
          <a:solidFill>
            <a:srgbClr val="1ABC9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005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0050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</a:rPr>
              <a:t>Gira con los pies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40050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No tuerzcas el tronco. Gira moviendo los pies completos.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Regla 20-20-20 para Tus Ojos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CCCCCC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5FA0"/>
                </a:solidFill>
              </a:rPr>
              <a:t>20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5FA0"/>
                </a:solidFill>
              </a:rPr>
              <a:t>minutos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Cada 20 minutos frente a la pantalla...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CCCCCC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59E92"/>
                </a:solidFill>
              </a:rPr>
              <a:t>20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9E92"/>
                </a:solidFill>
              </a:rPr>
              <a:t>segundos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...mira algo a 20 pies (6 metros) de distancia...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2760B"/>
                </a:solidFill>
              </a:rPr>
              <a:t>20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760B"/>
                </a:solidFill>
              </a:rPr>
              <a:t>parpadeos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...y parpadea 20 veces para lubricar los ojos.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Recuerda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2704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 mejor postura es la que cambia: muévete frecuentemente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Ajusta tu estación de trabajo a tu cuerpo, no al revés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1576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Haz pausas activas cada 45-60 minutos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Cuida tu postura al usar el celular: eleva la pantalla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0448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904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Levanta objetos con las piernas, no con la espalda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Material educativo. No sustituye el criterio clínico ni los protocolos de tu institución.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800" b="1" dirty="0">
                <a:solidFill>
                  <a:srgbClr val="159E92"/>
                </a:solidFill>
              </a:rPr>
              <a:t>TECK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Para Seguir Aprendiendo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9E92"/>
                </a:solidFill>
              </a:rPr>
              <a:t>Visita nuestro club de educación continua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club.fisioteck.com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AED4"/>
                </a:solidFill>
              </a:rPr>
              <a:t>Cursos · Materiales gratuitos · Comunidad profesional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Material educativo. No sustituye el criterio clínico ni los protocolos de tu institución.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sioTeck">
  <a:themeElements>
    <a:clrScheme name="FisioTeck">
      <a:dk1>
        <a:srgbClr val="10223A"/>
      </a:dk1>
      <a:lt1>
        <a:srgbClr val="FFFFFF"/>
      </a:lt1>
      <a:dk2>
        <a:srgbClr val="0A3E68"/>
      </a:dk2>
      <a:lt2>
        <a:srgbClr val="F2F6FA"/>
      </a:lt2>
      <a:accent1>
        <a:srgbClr val="0D5FA0"/>
      </a:accent1>
      <a:accent2>
        <a:srgbClr val="159E92"/>
      </a:accent2>
      <a:accent3>
        <a:srgbClr val="C2760B"/>
      </a:accent3>
      <a:accent4>
        <a:srgbClr val="2980B9"/>
      </a:accent4>
      <a:accent5>
        <a:srgbClr val="1ABC9C"/>
      </a:accent5>
      <a:accent6>
        <a:srgbClr val="E67E22"/>
      </a:accent6>
      <a:hlink>
        <a:srgbClr val="0D5FA0"/>
      </a:hlink>
      <a:folHlink>
        <a:srgbClr val="159E92"/>
      </a:folHlink>
    </a:clrScheme>
    <a:fontScheme name="FisioTeck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FisioTeck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Ergonomía y Postura para Pacientes</dc:title>
  <dc:subject>Ergonomía y Postura para Pacientes</dc:subject>
  <dc:creator>FisioTeck Club</dc:creator>
  <cp:lastModifiedBy>FisioTeck Club</cp:lastModifiedBy>
  <cp:revision>1</cp:revision>
  <dcterms:created xsi:type="dcterms:W3CDTF">2026-10-27T17:42:57Z</dcterms:created>
  <dcterms:modified xsi:type="dcterms:W3CDTF">2026-10-27T17:42:57Z</dcterms:modified>
</cp:coreProperties>
</file>