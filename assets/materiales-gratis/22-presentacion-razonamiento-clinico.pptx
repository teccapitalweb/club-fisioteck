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eb9a038e-946f-3238-6fcb-ce70286dfc62}">
          <p14:sldIdLst>
            <p14:sldId id="256"/>
          </p14:sldIdLst>
        </p14:section>
        <p14:section name="Objetivos" id="{b2fbf958-bcc2-44d9-05f2-8666c26c9b7d}">
          <p14:sldIdLst>
            <p14:sldId id="257"/>
            <p14:sldId id="264"/>
            <p14:sldId id="265"/>
          </p14:sldIdLst>
        </p14:section>
        <p14:section name="Concepto" id="{d5d6dcc3-e699-3171-cee8-b3c44044e443}">
          <p14:sldIdLst>
            <p14:sldId id="258"/>
            <p14:sldId id="259"/>
          </p14:sldIdLst>
        </p14:section>
        <p14:section name="Hipótesis" id="{73f7190f-676d-ee77-c8f6-11f38377de3e}">
          <p14:sldIdLst>
            <p14:sldId id="260"/>
          </p14:sldIdLst>
        </p14:section>
        <p14:section name="Banderas" id="{0322ff34-fe91-7e66-9bc2-326880487055}">
          <p14:sldIdLst>
            <p14:sldId id="261"/>
            <p14:sldId id="262"/>
          </p14:sldIdLst>
        </p14:section>
        <p14:section name="Diagnóstico" id="{93a04638-65e5-dca5-36b9-136447c91968}">
          <p14:sldIdLst>
            <p14:sldId id="263"/>
          </p14:sldIdLst>
        </p14:section>
        <p14:section name="Objetivos" id="{b9219bdc-9e43-67f5-2065-a45fc00fb25f}">
          <p14:sldIdLst/>
        </p14:section>
        <p14:section name="Plan" id="{dd23981f-aade-16ce-2b59-fa8124f54fff}">
          <p14:sldIdLst>
            <p14:sldId id="266"/>
          </p14:sldIdLst>
        </p14:section>
        <p14:section name="Reevaluación" id="{3d270539-7916-ec8e-db74-695f8ca676d3}">
          <p14:sldIdLst>
            <p14:sldId id="267"/>
          </p14:sldIdLst>
        </p14:section>
        <p14:section name="Errores" id="{8b182941-35b7-8cb6-1c8b-d90191c14279}">
          <p14:sldIdLst>
            <p14:sldId id="268"/>
          </p14:sldIdLst>
        </p14:section>
        <p14:section name="Conclusión" id="{1748c1a2-2707-3a98-e5f2-89d97051d267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presentación aborda cómo transformar los hallazgos de la valoración en un plan de tratamiento estructurado y basado en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objetivos cubren desde la formulación de hipótesis hasta la planificación del tratamiento con criterios claros.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razonamiento clínico no es un acto único, sino un proceso continuo. Se diferencia de la simple aplicación de protocolos porque incorpora al paciente como individuo.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modelo de seis pasos es cíclico: la reevaluación puede llevarnos a generar nuevas hipótesis si los resultados no son los esperados.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hipótesis se formulan agrupando hallazgos consistentes. Siempre considera más de una hipótesis y busca evidencia que la confirme o descarte.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banderas rojas son signos y síntomas que sugieren patología grave. Su presencia requiere referencia médica inmediata antes de iniciar tratamiento.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banderas amarillas no contraindican el tratamiento, pero deben abordarse. Un paciente con alto catastrofismo necesita educación sobre el dolor.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diagnóstico fisioterapéutico se basa en la Clasificación Internacional del Funcionamiento (CIF) de la OMS. Describe funcionalidad, no patología.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objetivos SMART son la base de un buen plan de tratamiento. Deben ser acordados con el paciente para aumentar la adherencia.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ejemplo integra todos los componentes SMART en un solo objetivo funcional. Nota cómo incluye una actividad relevante para la paciente.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plan debe estar alineado con los objetivos SMART. Prioriza las intervenciones con mayor evidencia, como el ejercicio terapéutico y la educación.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reevaluación no es opcional. Es la única forma de saber si tu intervención está funcionando y de justificar tus decisiones.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cometemos estos errores. La clave es ser conscientes de ellos para corregirlos. La reflexión sobre la práctica es fundamental.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con estos cinco mensajes principales. El razonamiento clínico se mejora con la práctica reflexiva constante.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Invita a los participantes a visitar club.fisioteck.com para más recursos y formación continua.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E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FISIO</a:t>
            </a:r>
            <a:pPr indent="0" marL="0">
              <a:buNone/>
            </a:pPr>
            <a:r>
              <a:rPr lang="en-US" sz="1800" b="1" dirty="0">
                <a:solidFill>
                  <a:srgbClr val="159E92"/>
                </a:solidFill>
              </a:rPr>
              <a:t>TECK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Razonamiento Clínico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en Fisioterapia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9E92"/>
                </a:solidFill>
              </a:rPr>
              <a:t>De los hallazgos al plan: hipótesis, banderas rojas, objetivos SMART y reevaluación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AED4"/>
                </a:solidFill>
              </a:rPr>
              <a:t>club.fisioteck.com · Material gratuito para uso educativo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Objetivos de Aprendizaje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</a:rPr>
              <a:t>Comprender el proceso de razonamiento clínico en fisioterapia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365760" cy="36576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</a:rPr>
              <a:t>Formular hipótesis a partir de los hallazgos de la valoración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365760" cy="36576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</a:rPr>
              <a:t>Identificar y actuar ante banderas rojas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</a:rPr>
              <a:t>Establecer objetivos SMART para el tratamiento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365760" cy="365760"/>
          </a:xfrm>
          <a:prstGeom prst="ellipse">
            <a:avLst/>
          </a:prstGeom>
          <a:solidFill>
            <a:srgbClr val="0D5F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23A"/>
                </a:solidFill>
              </a:rPr>
              <a:t>Diseñar un plan de intervención y criterios de reevaluación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¿Qué Es el Razonamiento Clínico?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A3E68"/>
                </a:solidFill>
              </a:rPr>
              <a:t>Proceso cognitivo mediante el cual el fisioterapeuta integra la información clínica, científica y del paciente para tomar decisiones terapéuticas fundamentadas.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73152" cy="594360"/>
          </a:xfrm>
          <a:prstGeom prst="roundRect">
            <a:avLst/>
          </a:prstGeom>
          <a:solidFill>
            <a:srgbClr val="0D5FA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5FA0"/>
                </a:solidFill>
              </a:rPr>
              <a:t>No es intuitivo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Se entrena con práctica deliberada y reflexión.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73152" cy="594360"/>
          </a:xfrm>
          <a:prstGeom prst="roundRect">
            <a:avLst/>
          </a:prstGeom>
          <a:solidFill>
            <a:srgbClr val="159E9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No es lineal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57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Se va ajustando conforme llega nueva información.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73152" cy="594360"/>
          </a:xfrm>
          <a:prstGeom prst="roundRect">
            <a:avLst/>
          </a:prstGeom>
          <a:solidFill>
            <a:srgbClr val="C276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114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60B"/>
                </a:solidFill>
              </a:rPr>
              <a:t>Es centrado en el paciente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89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Considera sus valores, expectativas y contexto.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Modelo de Razonamiento Clínico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280160" cy="2560320"/>
          </a:xfrm>
          <a:prstGeom prst="roundRect">
            <a:avLst>
              <a:gd name="adj" fmla="val 7143"/>
            </a:avLst>
          </a:prstGeom>
          <a:solidFill>
            <a:srgbClr val="0D5F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>
                    <a:alpha val="70000"/>
                  </a:srgbClr>
                </a:solidFill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Recolección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 datos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1554480"/>
            <a:ext cx="1280160" cy="2560320"/>
          </a:xfrm>
          <a:prstGeom prst="roundRect">
            <a:avLst>
              <a:gd name="adj" fmla="val 7143"/>
            </a:avLst>
          </a:prstGeom>
          <a:solidFill>
            <a:srgbClr val="159E9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01168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>
                    <a:alpha val="70000"/>
                  </a:srgbClr>
                </a:solidFill>
              </a:rPr>
              <a:t>02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228600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Generación de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hipótesis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1554480"/>
            <a:ext cx="1280160" cy="2560320"/>
          </a:xfrm>
          <a:prstGeom prst="roundRect">
            <a:avLst>
              <a:gd name="adj" fmla="val 7143"/>
            </a:avLst>
          </a:prstGeom>
          <a:solidFill>
            <a:srgbClr val="C276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7472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>
                    <a:alpha val="70000"/>
                  </a:srgbClr>
                </a:solidFill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28600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Verificación 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descarte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554480"/>
            <a:ext cx="1280160" cy="2560320"/>
          </a:xfrm>
          <a:prstGeom prst="roundRect">
            <a:avLst>
              <a:gd name="adj" fmla="val 7143"/>
            </a:avLst>
          </a:prstGeom>
          <a:solidFill>
            <a:srgbClr val="2980B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3776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>
                    <a:alpha val="70000"/>
                  </a:srgbClr>
                </a:solidFill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228600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Diagnóstico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fisioterapéutico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554480"/>
            <a:ext cx="1280160" cy="2560320"/>
          </a:xfrm>
          <a:prstGeom prst="roundRect">
            <a:avLst>
              <a:gd name="adj" fmla="val 7143"/>
            </a:avLst>
          </a:prstGeom>
          <a:solidFill>
            <a:srgbClr val="1ABC9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>
                    <a:alpha val="70000"/>
                  </a:srgbClr>
                </a:solidFill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28600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Plan de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tratamiento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554480"/>
            <a:ext cx="1280160" cy="2560320"/>
          </a:xfrm>
          <a:prstGeom prst="roundRect">
            <a:avLst>
              <a:gd name="adj" fmla="val 7143"/>
            </a:avLst>
          </a:prstGeom>
          <a:solidFill>
            <a:srgbClr val="E67E2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6384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>
                    <a:alpha val="70000"/>
                  </a:srgbClr>
                </a:solidFill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228600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Reevaluación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 ajuste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De Hallazgos a Hipótesis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9E92"/>
                </a:solidFill>
              </a:rPr>
              <a:t>Agrupar hallazgos → Identificar patrones → Formular hipótesis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F2F6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FA0"/>
                </a:solidFill>
              </a:rPr>
              <a:t>Hallazgos del ejemplo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860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Dolor en arco medio (70-120°)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Pruebas de pinzamiento (+)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Déficit de fuerza en rotadores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Postura con elevación de hombro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Trabajo sedentario prolongado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E8F5E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3776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Hipótesis formuladas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2860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0223A"/>
                </a:solidFill>
              </a:rPr>
              <a:t>H1: Síndrome de dolor subacromial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66666"/>
                </a:solidFill>
              </a:rPr>
              <a:t>Apoyada por arco doloroso, pruebas de pinzamiento positivas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0223A"/>
                </a:solidFill>
              </a:rPr>
              <a:t>H2: Disfunción escapulotorrácica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66666"/>
                </a:solidFill>
              </a:rPr>
              <a:t>Apoyada por postura y patrón de compensación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Banderas Rojas: ¿Cuándo Derivar?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548640"/>
          </a:xfrm>
          <a:prstGeom prst="roundRect">
            <a:avLst>
              <a:gd name="adj" fmla="val 8333"/>
            </a:avLst>
          </a:prstGeom>
          <a:solidFill>
            <a:srgbClr val="FDED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Si identificas una bandera roja, no trates: deriva al médico de inmediato.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8046720" cy="50292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103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General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10312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Pérdida de peso inexplicable, fiebre, malestar nocturno, historial de cáncer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651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Columna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6517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Síndrome de cauda equina, déficit neurológico progresivo, trauma severo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8046720" cy="50292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200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Articular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32004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Articulación caliente y enrojecida sin trauma, deformidad súbita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Vascular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37490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Dolor en pantorrilla con edema unilateral, disnea súbita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Neurológico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651760" y="42976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Debilidad progresiva, pérdida de control de esfínteres, cefalea severa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6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E68"/>
                </a:solidFill>
              </a:rPr>
              <a:t>Banderas Amarillas: Factores Psicosociales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9E92"/>
                </a:solidFill>
              </a:rPr>
              <a:t>Factores que pueden cronificar el dolor o retrasar la recuperación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</a:rPr>
              <a:t>Catastrofismo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Pensar que el dolor es insoportable, que nunca mejorará o que algo está muy dañado.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5856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⚠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2585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</a:rPr>
              <a:t>Miedo-evitación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2585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Evitar movimientos o actividades por miedo a dañarse más.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2549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⚠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8254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</a:rPr>
              <a:t>Pasividad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8254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Esperar que el tratamiento «me cure» sin participación activa.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39242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⚠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3924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</a:rPr>
              <a:t>Factores laborales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3924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Insatisfacción laboral, conflictos, compensaciones económicas.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95935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F39C1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⚠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959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</a:rPr>
              <a:t>Estado emocional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39593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Tristeza, ansiedad o estrés sostenido que amplifican la experiencia de dolor.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Diagnóstico Fisioterapéutico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DED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NO 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Un diagnóstico médico o patológico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Una etiqueta de enfermedad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Una prescripción de estudios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Un pronóstico médico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E8F5E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3776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SÍ 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01168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Identificación de deficiencias funcionales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Limitaciones en la actividad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Restricciones en la participación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223A"/>
                </a:solidFill>
              </a:rPr>
              <a:t>Basado en la CIF (OMS)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8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Objetivos SMART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502920"/>
          </a:xfrm>
          <a:prstGeom prst="roundRect">
            <a:avLst>
              <a:gd name="adj" fmla="val 9091"/>
            </a:avLst>
          </a:prstGeom>
          <a:solidFill>
            <a:srgbClr val="0D5F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5FA0"/>
                </a:solidFill>
              </a:rPr>
              <a:t>Específico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Qué exactamente quieres lograr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4173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Aumentar flexión de hombro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548640" cy="502920"/>
          </a:xfrm>
          <a:prstGeom prst="roundRect">
            <a:avLst>
              <a:gd name="adj" fmla="val 9091"/>
            </a:avLst>
          </a:prstGeom>
          <a:solidFill>
            <a:srgbClr val="159E9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057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Medible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Cómo sabrás que lo lograste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057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De 140° a 170° de flexión activa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548640" cy="502920"/>
          </a:xfrm>
          <a:prstGeom prst="roundRect">
            <a:avLst>
              <a:gd name="adj" fmla="val 9091"/>
            </a:avLst>
          </a:prstGeom>
          <a:solidFill>
            <a:srgbClr val="C2760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697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60B"/>
                </a:solidFill>
              </a:rPr>
              <a:t>Alcanzable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Es realista con los recursos disponibles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26974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Con ejercicios diarios en casa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548640" cy="502920"/>
          </a:xfrm>
          <a:prstGeom prst="roundRect">
            <a:avLst>
              <a:gd name="adj" fmla="val 9091"/>
            </a:avLst>
          </a:prstGeom>
          <a:solidFill>
            <a:srgbClr val="2980B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337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</a:rPr>
              <a:t>Relevante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Importa para el paciente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33375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Para que pueda peinarse sola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548640" cy="502920"/>
          </a:xfrm>
          <a:prstGeom prst="roundRect">
            <a:avLst>
              <a:gd name="adj" fmla="val 9091"/>
            </a:avLst>
          </a:prstGeom>
          <a:solidFill>
            <a:srgbClr val="E67E2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977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</a:rPr>
              <a:t>Temporal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Cuándo debe lograrse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3977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En 6 semanas de tratamiento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E68"/>
                </a:solidFill>
              </a:rPr>
              <a:t>Ejemplo: Objetivo SMART Completo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CCCCCC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23A"/>
                </a:solidFill>
              </a:rPr>
              <a:t>La paciente recuperará 170° de flexión activa de hombro derecho (medido con goniómetro), suficiente para peinarse sin dolor, mediante un programa de ejercicios domiciliarios y 12 sesiones de fisioterapia, en un plazo de 6 semanas.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73152" cy="320040"/>
          </a:xfrm>
          <a:prstGeom prst="roundRect">
            <a:avLst/>
          </a:prstGeom>
          <a:solidFill>
            <a:srgbClr val="0D5FA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FA0"/>
                </a:solidFill>
              </a:rPr>
              <a:t>Específico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834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170° de flexión activa + peinarse sin dolor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218688"/>
            <a:ext cx="73152" cy="320040"/>
          </a:xfrm>
          <a:prstGeom prst="roundRect">
            <a:avLst/>
          </a:prstGeom>
          <a:solidFill>
            <a:srgbClr val="159E9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2186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9E92"/>
                </a:solidFill>
              </a:rPr>
              <a:t>Medible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2186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Medido con goniómetro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602736"/>
            <a:ext cx="73152" cy="320040"/>
          </a:xfrm>
          <a:prstGeom prst="roundRect">
            <a:avLst/>
          </a:prstGeom>
          <a:solidFill>
            <a:srgbClr val="C276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36027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760B"/>
                </a:solidFill>
              </a:rPr>
              <a:t>Alcanzable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6027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Ejercicios domiciliarios + 12 sesiones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86784"/>
            <a:ext cx="73152" cy="320040"/>
          </a:xfrm>
          <a:prstGeom prst="roundRect">
            <a:avLst/>
          </a:prstGeom>
          <a:solidFill>
            <a:srgbClr val="2980B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39867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</a:rPr>
              <a:t>Relevante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39867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Actividad significativa para la paciente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370832"/>
            <a:ext cx="73152" cy="32004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4370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Temporal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43708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23A"/>
                </a:solidFill>
              </a:rPr>
              <a:t>6 semanas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Plan de Intervención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F2F6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73152" cy="566928"/>
          </a:xfrm>
          <a:prstGeom prst="roundRect">
            <a:avLst/>
          </a:prstGeom>
          <a:solidFill>
            <a:srgbClr val="0D5FA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435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FA0"/>
                </a:solidFill>
              </a:rPr>
              <a:t>Educación al paciente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6916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23A"/>
                </a:solidFill>
              </a:rPr>
              <a:t>Explicar diagnóstico, pronóstico y expectativas realistas. Fundamental para la adherencia.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075688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075688"/>
            <a:ext cx="73152" cy="566928"/>
          </a:xfrm>
          <a:prstGeom prst="roundRect">
            <a:avLst/>
          </a:prstGeom>
          <a:solidFill>
            <a:srgbClr val="159E9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093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9E92"/>
                </a:solidFill>
              </a:rPr>
              <a:t>Ejercicio terapéutico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3500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23A"/>
                </a:solidFill>
              </a:rPr>
              <a:t>Fortalecimiento, movilidad, control motor. Pilar del tratamiento en fisioterapia.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34056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F2F6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734056"/>
            <a:ext cx="73152" cy="566928"/>
          </a:xfrm>
          <a:prstGeom prst="roundRect">
            <a:avLst/>
          </a:prstGeom>
          <a:solidFill>
            <a:srgbClr val="C276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27523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760B"/>
                </a:solidFill>
              </a:rPr>
              <a:t>Terapia manual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0083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23A"/>
                </a:solidFill>
              </a:rPr>
              <a:t>Movilizaciones, manipulaciones, tejidos blandos. Complementa el ejercicio.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92424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392424"/>
            <a:ext cx="73152" cy="566928"/>
          </a:xfrm>
          <a:prstGeom prst="roundRect">
            <a:avLst/>
          </a:prstGeom>
          <a:solidFill>
            <a:srgbClr val="2980B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410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</a:rPr>
              <a:t>Agentes físicos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6667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23A"/>
                </a:solidFill>
              </a:rPr>
              <a:t>Termoterapia, crioterapia, electroterapia. Como coadyuvantes, no como tratamiento único.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50792"/>
            <a:ext cx="8046720" cy="566928"/>
          </a:xfrm>
          <a:prstGeom prst="roundRect">
            <a:avLst>
              <a:gd name="adj" fmla="val 8065"/>
            </a:avLst>
          </a:prstGeom>
          <a:solidFill>
            <a:srgbClr val="F2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050792"/>
            <a:ext cx="73152" cy="566928"/>
          </a:xfrm>
          <a:prstGeom prst="roundRect">
            <a:avLst/>
          </a:prstGeom>
          <a:solidFill>
            <a:srgbClr val="1ABC9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BC9C"/>
                </a:solidFill>
              </a:rPr>
              <a:t>Programa domiciliario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3251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223A"/>
                </a:solidFill>
              </a:rPr>
              <a:t>Ejercicios en casa con instrucciones claras. Clave para mantener los avances.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E68"/>
                </a:solidFill>
              </a:rPr>
              <a:t>Reevaluación y Ajuste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2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FA0"/>
                </a:solidFill>
              </a:rPr>
              <a:t>¿Cuándo reevaluar?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Cada 4-6 sesiones o ante cambios significativos en el cuadro clínico.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2F6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5146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FA0"/>
                </a:solidFill>
              </a:rPr>
              <a:t>¿Qué reevaluar?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346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Los mismos parámetros de la evaluación inicial: ROM, fuerza, dolor, escalas funcionales.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2F6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5204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FA0"/>
                </a:solidFill>
              </a:rPr>
              <a:t>¿Para qué sirve?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40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23A"/>
                </a:solidFill>
              </a:rPr>
              <a:t>Verificar si los objetivos se están alcanzando. Justificar la continuación o el alta.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840480" cy="594360"/>
          </a:xfrm>
          <a:prstGeom prst="roundRect">
            <a:avLst>
              <a:gd name="adj" fmla="val 7692"/>
            </a:avLst>
          </a:prstGeom>
          <a:solidFill>
            <a:srgbClr val="E8F5E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749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Mejora → Continuar o dar de alta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749040"/>
            <a:ext cx="3840480" cy="594360"/>
          </a:xfrm>
          <a:prstGeom prst="roundRect">
            <a:avLst>
              <a:gd name="adj" fmla="val 7692"/>
            </a:avLst>
          </a:prstGeom>
          <a:solidFill>
            <a:srgbClr val="FFF3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37760" y="3749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Sin mejora → Ajustar plan o derivar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E68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E68"/>
                </a:solidFill>
              </a:rPr>
              <a:t>Errores Comunes en el Razonamiento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DED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Anclaje prematuro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371600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54880" y="1371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</a:rPr>
              <a:t>No te cases con la primera hipótesis. Busca evidencia que la descarte.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DED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299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Sesgo de confirmación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029968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20299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</a:rPr>
              <a:t>No busques solo lo que confirma tu idea. Busca lo que la contradice.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DED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6883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Tratar el dolor, no la causa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2688336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54880" y="26883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</a:rPr>
              <a:t>El dolor es un síntoma. Identifica qué lo produce y aborda eso.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46704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DED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3467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Ignorar al paciente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3346704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54880" y="334670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</a:rPr>
              <a:t>Sus creencias, expectativas y contexto son parte del razonamiento.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05072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FDED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0050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No reevaluar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4005072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54880" y="40050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</a:rPr>
              <a:t>Sin reevaluación, no sabes si tu tratamiento funciona.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5FA0"/>
                </a:solidFill>
              </a:rPr>
              <a:t>club.fisioteck.com · Material gratuito para uso educativo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3E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FISIO</a:t>
            </a:r>
            <a:pPr indent="0" marL="0">
              <a:buNone/>
            </a:pPr>
            <a:r>
              <a:rPr lang="en-US" sz="1400" b="1" dirty="0">
                <a:solidFill>
                  <a:srgbClr val="159E92"/>
                </a:solidFill>
              </a:rPr>
              <a:t>TECK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Puntos Clave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27048"/>
            <a:ext cx="320040" cy="32004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27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63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El razonamiento clínico es un proceso sistemático, no una intuición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21408"/>
            <a:ext cx="320040" cy="32004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121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057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Siempre descarta banderas rojas antes de tratar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715768"/>
            <a:ext cx="320040" cy="32004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715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651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El diagnóstico fisioterapéutico es funcional, basado en la CIF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310128"/>
            <a:ext cx="320040" cy="32004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310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246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Los objetivos SMART dan dirección y permiten evaluar resultados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904488"/>
            <a:ext cx="320040" cy="320040"/>
          </a:xfrm>
          <a:prstGeom prst="ellipse">
            <a:avLst/>
          </a:prstGeom>
          <a:solidFill>
            <a:srgbClr val="159E9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904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840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La reevaluación es obligatoria: lo que no se mide, no se puede mejorar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AED4"/>
                </a:solidFill>
              </a:rPr>
              <a:t>Material educativo. No sustituye el criterio clínico ni los protocolos de tu institución.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AED4"/>
                </a:solidFill>
              </a:rPr>
              <a:t>club.fisioteck.com · Material gratuito para uso educativo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3E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FISIO</a:t>
            </a:r>
            <a:pPr indent="0" marL="0">
              <a:buNone/>
            </a:pPr>
            <a:r>
              <a:rPr lang="en-US" sz="1800" b="1" dirty="0">
                <a:solidFill>
                  <a:srgbClr val="159E92"/>
                </a:solidFill>
              </a:rPr>
              <a:t>TECK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Para Seguir Aprendiendo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59E92"/>
                </a:solidFill>
              </a:rPr>
              <a:t>Visita nuestro club de educación continua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club.fisioteck.com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AED4"/>
                </a:solidFill>
              </a:rPr>
              <a:t>Cursos · Materiales gratuitos · Comunidad profesional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AED4"/>
                </a:solidFill>
              </a:rPr>
              <a:t>Material educativo. No sustituye el criterio clínico ni los protocolos de tu institución.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AED4"/>
                </a:solidFill>
              </a:rPr>
              <a:t>club.fisioteck.com · Material gratuito para uso educativo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sioTeck">
  <a:themeElements>
    <a:clrScheme name="FisioTeck">
      <a:dk1>
        <a:srgbClr val="10223A"/>
      </a:dk1>
      <a:lt1>
        <a:srgbClr val="FFFFFF"/>
      </a:lt1>
      <a:dk2>
        <a:srgbClr val="0A3E68"/>
      </a:dk2>
      <a:lt2>
        <a:srgbClr val="F2F6FA"/>
      </a:lt2>
      <a:accent1>
        <a:srgbClr val="0D5FA0"/>
      </a:accent1>
      <a:accent2>
        <a:srgbClr val="159E92"/>
      </a:accent2>
      <a:accent3>
        <a:srgbClr val="C2760B"/>
      </a:accent3>
      <a:accent4>
        <a:srgbClr val="2980B9"/>
      </a:accent4>
      <a:accent5>
        <a:srgbClr val="1ABC9C"/>
      </a:accent5>
      <a:accent6>
        <a:srgbClr val="E67E22"/>
      </a:accent6>
      <a:hlink>
        <a:srgbClr val="0D5FA0"/>
      </a:hlink>
      <a:folHlink>
        <a:srgbClr val="159E92"/>
      </a:folHlink>
    </a:clrScheme>
    <a:fontScheme name="FisioTec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FisioTeck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Razonamiento Clínico en Fisioterapia</dc:title>
  <dc:subject>Razonamiento Clínico en Fisioterapia</dc:subject>
  <dc:creator>FisioTeck Club</dc:creator>
  <cp:lastModifiedBy>FisioTeck Club</cp:lastModifiedBy>
  <cp:revision>1</cp:revision>
  <dcterms:created xsi:type="dcterms:W3CDTF">2026-10-27T17:38:46Z</dcterms:created>
  <dcterms:modified xsi:type="dcterms:W3CDTF">2026-10-27T17:38:46Z</dcterms:modified>
</cp:coreProperties>
</file>