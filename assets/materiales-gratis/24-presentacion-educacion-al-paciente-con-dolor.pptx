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9bdde4dc-eba2-714a-9a57-0df957481677}">
          <p14:sldIdLst>
            <p14:sldId id="256"/>
          </p14:sldIdLst>
        </p14:section>
        <p14:section name="Objetivos" id="{5f06b9bc-6eac-ad90-6485-4f59175224c7}">
          <p14:sldIdLst>
            <p14:sldId id="257"/>
          </p14:sldIdLst>
        </p14:section>
        <p14:section name="Conceptos" id="{03dbd633-8d5e-e2cd-53d3-caa872f2d323}">
          <p14:sldIdLst>
            <p14:sldId id="258"/>
            <p14:sldId id="259"/>
          </p14:sldIdLst>
        </p14:section>
        <p14:section name="Metáforas" id="{6e6b90d4-8495-917d-ed0b-ff470fc34381}">
          <p14:sldIdLst>
            <p14:sldId id="260"/>
            <p14:sldId id="261"/>
          </p14:sldIdLst>
        </p14:section>
        <p14:section name="Comunicación" id="{b04174a9-f526-ef82-539c-1ec5a6e6563e}">
          <p14:sldIdLst>
            <p14:sldId id="262"/>
            <p14:sldId id="263"/>
          </p14:sldIdLst>
        </p14:section>
        <p14:section name="Factores" id="{d5353c08-5d81-f1d6-310f-a98be984af7f}">
          <p14:sldIdLst>
            <p14:sldId id="264"/>
          </p14:sldIdLst>
        </p14:section>
        <p14:section name="Movimiento" id="{abff59ac-6745-da7f-d5f7-429d719fc6fb}">
          <p14:sldIdLst>
            <p14:sldId id="265"/>
            <p14:sldId id="266"/>
          </p14:sldIdLst>
        </p14:section>
        <p14:section name="Bienestar" id="{973cd803-58e7-02de-c537-411492039dfc}">
          <p14:sldIdLst>
            <p14:sldId id="267"/>
          </p14:sldIdLst>
        </p14:section>
        <p14:section name="Ejemplo" id="{517d253e-c103-e852-d0cf-7df3009c0c75}">
          <p14:sldIdLst>
            <p14:sldId id="268"/>
          </p14:sldIdLst>
        </p14:section>
        <p14:section name="Conclusión" id="{83766e3f-7c21-2ae1-637b-839cb823040e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para fisioterapeutas sobre cómo educar a pacientes con dolor persistente. Incluye metáforas, frases clave y estrategias basadas en neurociencia del dolor.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objetivos guían la presentación. La educación en dolor es una de las intervenciones con mayor evidencia en dolor persistente.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definición actualizada de la IASP (2020) enfatiza que el dolor no requiere daño tisular. Esto es fundamental para pacientes con dolor persistente.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crucial que el paciente entienda que dolor persistente no significa daño continuo. Los tejidos sanan, pero el sistema de alarma puede permanecer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metáfora de la alarma es una de las más efectivas y más usadas en la educación en neurociencia del dolor. Valida la experiencia del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metáfora del volumen ayuda a explicar la sensibilización central. Muestra que hay factores modificables que influyen en la percepción del dolor.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frases están diseñadas para validar, tranquilizar y empoderar. El lenguaje del terapeuta tiene un impacto directo en la experiencia del dolor.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efecto nocebo es real: las palabras del profesional de salud pueden empeorar o mejorar la experiencia de dolor del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biopsicosocial es el marco actual para entender el dolor. Todos estos factores interactúan y pueden modificarse.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cinesifobia es una barrera común. Explicar que el movimiento es seguro y necesario es fundamental para la recuperación.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pacing es una estrategia clave en el manejo del dolor persistente. Rompe el ciclo boom-bust y da al paciente control sobre su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sueño es modulador del dolor. La relación es bidireccional: mejorar el sueño puede reducir el dolor, y reducir el dolor mejora el sueño.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ejemplo integra todos los conceptos: validar, explicar con metáforas, tranquilizar y dar un plan de acción concreto y gradual.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seis puntos resumen la educación en dolor. Cada uno puede hacer una diferencia significativa en la experiencia del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presentación. Invita al fisioterapeuta a seguir aprendiendo sobre educación en dolor en club.fisioteck.com.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800" b="1" dirty="0">
                <a:solidFill>
                  <a:srgbClr val="159E92"/>
                </a:solidFill>
              </a:rPr>
              <a:t>TECK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Educación al Paciente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con Dolor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9E92"/>
                </a:solidFill>
              </a:rPr>
              <a:t>Cómo explicar el dolor persistente de forma clara y tranquilizadora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Objetivos de Esta Presentación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72768"/>
            <a:ext cx="411480" cy="41148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Entender por qué el dolor a veces persiste más allá de la curación del tejido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2F6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402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Aprender metáforas y frases útiles para explicar el dolor a los pacientes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2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127248"/>
            <a:ext cx="411480" cy="411480"/>
          </a:xfrm>
          <a:prstGeom prst="ellipse">
            <a:avLst/>
          </a:prstGeom>
          <a:solidFill>
            <a:srgbClr val="C276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175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Identificar qué frases evitar y qué decir en su lugar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2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904488"/>
            <a:ext cx="411480" cy="41148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7947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Conocer estrategias prácticas para la educación en dolor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¿Qué Es el Dolor?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3E68"/>
                </a:solidFill>
              </a:rPr>
              <a:t>«Una experiencia sensorial y emocional desagradable asociada con, o similar a la asociada con, daño tisular real o potencial.»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— IASP (Asociación Internacional para el Estudio del Dolor),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DDDDDD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560320"/>
            <a:ext cx="2651760" cy="54864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Es real, siempre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El dolor siempre es una experiencia real, independientemente de si hay daño visible.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5603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DDDDD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560320"/>
            <a:ext cx="2651760" cy="54864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Es una señal de protección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El cerebro produce dolor para protegerte, no necesariamente porque haya daño.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DDDDD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560320"/>
            <a:ext cx="2651760" cy="54864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60B"/>
                </a:solidFill>
              </a:rPr>
              <a:t>Puede cambiar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El sistema del dolor puede volverse más o menos sensible con el tiempo.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Dolor Agudo vs. Dolor Persistente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BF5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FA0"/>
                </a:solidFill>
              </a:rPr>
              <a:t>Dolor Agudo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75688"/>
            <a:ext cx="274320" cy="27432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Dura menos de 3 meses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78608"/>
            <a:ext cx="274320" cy="27432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Asociado a daño tisular reciente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81528"/>
            <a:ext cx="274320" cy="27432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Función: proteger y permitir la curación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584448"/>
            <a:ext cx="274320" cy="27432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Se resuelve al sanar el tejido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5E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760B"/>
                </a:solidFill>
              </a:rPr>
              <a:t>Dolor Persistente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937760" y="2075688"/>
            <a:ext cx="274320" cy="274320"/>
          </a:xfrm>
          <a:prstGeom prst="ellipse">
            <a:avLst/>
          </a:prstGeom>
          <a:solidFill>
            <a:srgbClr val="C276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3776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Dura más de 3 meses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2578608"/>
            <a:ext cx="274320" cy="274320"/>
          </a:xfrm>
          <a:prstGeom prst="ellipse">
            <a:avLst/>
          </a:prstGeom>
          <a:solidFill>
            <a:srgbClr val="C276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El tejido ya sanó, pero el dolor continúa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081528"/>
            <a:ext cx="274320" cy="274320"/>
          </a:xfrm>
          <a:prstGeom prst="ellipse">
            <a:avLst/>
          </a:prstGeom>
          <a:solidFill>
            <a:srgbClr val="C276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93776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El sistema nervioso se ha sensibilizado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3584448"/>
            <a:ext cx="274320" cy="274320"/>
          </a:xfrm>
          <a:prstGeom prst="ellipse">
            <a:avLst/>
          </a:prstGeom>
          <a:solidFill>
            <a:srgbClr val="C276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3776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Requiere un enfoque diferente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9E92"/>
                </a:solidFill>
              </a:rPr>
              <a:t>«Que el dolor dure no significa que haya más daño.»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Metáfora: La Alarma Sensible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2926080"/>
          </a:xfrm>
          <a:prstGeom prst="roundRect">
            <a:avLst>
              <a:gd name="adj" fmla="val 4688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FA0"/>
                </a:solidFill>
              </a:rPr>
              <a:t>«Imagina que tu cuerpo tiene una alarma contra incendios.»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116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Cuando te lesionas, la alarma suena con razón: hay un «incendio» real.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603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El tejido sana (el incendio se apaga), pero a veces la alarma queda demasiado sensible.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089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Ahora suena con el humo de la tostadora, la vela de un pastel o incluso con vapor.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576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Tu dolor es la alarma sonando. Es real, pero no significa que haya un nuevo incendio.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Esta metáfora ayuda al paciente a entender que el dolor es real pero no siempre indica daño.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Metáfora: El Volumen del Dolor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3E68"/>
                </a:solidFill>
              </a:rPr>
              <a:t>«Tu sistema nervioso tiene una perilla de volumen. Cuando está alta, todo se siente más fuerte: un toque suave puede doler. Podemos aprender a bajar esa perilla.»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Suben el volumen 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•  Estrés y preocupación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•  Falta de sueño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•  Inactividad prolongada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77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•  Creencias catastróficas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Bajan el volumen ▼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017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•  Ejercicio gradual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337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•  Sueño reparador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657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•  Relajación y respiración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77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•  Entender el dolor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Frases Útiles para Tu Paciente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457200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«Tu dolor es real. No está en tu imaginación.»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38528"/>
            <a:ext cx="73152" cy="457200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38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«Que duela no significa que estés empeorando.»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505456"/>
            <a:ext cx="73152" cy="457200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5054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«Tu cuerpo es fuerte y capaz de sanar.»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072384"/>
            <a:ext cx="73152" cy="457200"/>
          </a:xfrm>
          <a:prstGeom prst="round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0723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«El movimiento seguro es parte de la solución, no del problema.»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639312"/>
            <a:ext cx="73152" cy="457200"/>
          </a:xfrm>
          <a:prstGeom prst="round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6393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«Vamos paso a paso; no hay prisa.»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06240"/>
            <a:ext cx="73152" cy="45720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«Aprender sobre el dolor ya es parte del tratamiento.»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9E92"/>
                </a:solidFill>
              </a:rPr>
              <a:t>Cada frase valida la experiencia y ofrece esperanza.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Frases que Debemos Evitar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Lo que decimos importa tanto como lo que hacemos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✗  «No tienes nada»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0020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✓  «Los estudios no muestran daño, y eso es buena noticia»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03704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03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✗  «Es psicológico»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203704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22037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✓  «El estrés puede amplificar las señales de dolor»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807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✗  «Tu columna está desgastada»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807208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2807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✓  «Estos cambios son normales con la edad y no siempre causan dolor»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4107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✗  «Ten cuidado, no te vayas a lastimar»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410712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3410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✓  «Puedes moverte con confianza; tu cuerpo es resistente»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0142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✗  «Vas a tener que vivir con esto»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4014216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4014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✓  «Hay muchas cosas que podemos hacer para mejorar»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Factores que Influyen en el Dolor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El dolor es multidimensional — no solo físico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3840480" cy="54864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FA0"/>
                </a:solidFill>
              </a:rPr>
              <a:t>Biológicos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Inflamación, sensibilización, sueño, estado físico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691640"/>
            <a:ext cx="3840480" cy="54864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E92"/>
                </a:solidFill>
              </a:rPr>
              <a:t>Psicológicos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Miedo al movimiento, catastrofismo, estrés, ansiedad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108960"/>
            <a:ext cx="3840480" cy="54864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760B"/>
                </a:solidFill>
              </a:rPr>
              <a:t>Sociales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Apoyo familiar, trabajo, aislamiento, cultura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3108960"/>
            <a:ext cx="3840480" cy="54864"/>
          </a:xfrm>
          <a:prstGeom prst="round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</a:rPr>
              <a:t>Estilo de vida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Actividad física, nutrición, hábitos de sueño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El Movimiento Es Seguro y Necesario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AE60"/>
                </a:solidFill>
              </a:rPr>
              <a:t>Moverse no daña. El dolor durante el ejercicio no significa que te estés lastimando. El cuerpo se adapta gradualmente.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3152" cy="457200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Empieza despacio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Comienza con lo que puedas hacer hoy, sin forzar. Cualquier movimiento cuenta.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73152" cy="457200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Progresa gradualmente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98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Aumenta la actividad poco a poco. El cuerpo necesita tiempo para adaptarse.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73152" cy="457200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4655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60B"/>
                </a:solidFill>
              </a:rPr>
              <a:t>El dolor moderado está bien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465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Un aumento leve del dolor durante el ejercicio es normal y no indica daño.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32504"/>
            <a:ext cx="73152" cy="457200"/>
          </a:xfrm>
          <a:prstGeom prst="round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32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La consistencia importa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032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Es mejor poco y frecuente que mucho de golpe. La regularidad es la clave.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Estrategia: Dosificar la Actividad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Patrón boom-bust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No recomendado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Día bueno → hago mucho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Día malo → no hago nada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Ciclo de sobreactividad y reposo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467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El dolor se vuelve impredecible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Actividad dosificada (pacing)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Recomendado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Establece una línea base tolerable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Mantén esa cantidad cada día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Aumenta un 10-20% por semana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3467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El dolor se vuelve más predecible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Sueño, Estrés y Dolor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FA0"/>
                </a:solidFill>
              </a:rPr>
              <a:t>Sueño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Horario regular de sueño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Evitar pantallas 1 hora antes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Habitación fresca, oscura y silenciosa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2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🧘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9E92"/>
                </a:solidFill>
              </a:rPr>
              <a:t>Estrés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Respiración diafragmática 5 min/día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Identificar y limitar estresores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Actividades placenteras diarias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2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760B"/>
                </a:solidFill>
              </a:rPr>
              <a:t>Conexión social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Mantener actividades sociales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Hablar sobre el dolor sin que sea el centro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•  Pedir ayuda cuando se necesite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Ejemplo: Cómo Explicarlo en Consulta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60B"/>
                </a:solidFill>
              </a:rPr>
              <a:t>Paciente con lumbalgia de 8 meses, estudios normales, miedo a moverse.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0D5F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031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«Entiendo que te duele y es real. Tu dolor es válido.»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1518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Explicar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61518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«Tus estudios muestran que no hay daño. Tu sistema de alarma está sensible.»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2980B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272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Tranquilizar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12724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«Tu espalda es fuerte. Moverse no la va a dañar.»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1ABC9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393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Empoderar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63931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«Vamos a empezar con movimientos que tú controles, a tu ritmo.»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51376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15137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15137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«Caminar 10 min diarios + ejercicios suaves + revisar el sueño.»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Puntos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3560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 dolor persistente no significa daño continuo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019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Las metáforas ayudan al paciente a entender su dolor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323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Las palabras del terapeuta pueden aumentar o reducir el dolor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026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9626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 movimiento gradual es seguro y necesario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57016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93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Sueño, estrés y factores sociales modulan el dolor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08736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87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Validar, explicar, tranquilizar y empoderar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Material educativo. No sustituye el criterio clínico ni los protocolos de tu institución.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800" b="1" dirty="0">
                <a:solidFill>
                  <a:srgbClr val="159E92"/>
                </a:solidFill>
              </a:rPr>
              <a:t>TECK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Para Seguir Aprendiendo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9E92"/>
                </a:solidFill>
              </a:rPr>
              <a:t>Visita nuestro club de educación continua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club.fisioteck.com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AED4"/>
                </a:solidFill>
              </a:rPr>
              <a:t>Cursos · Materiales gratuitos · Comunidad profesional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Material educativo. No sustituye el criterio clínico ni los protocolos de tu institución.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sioTeck">
  <a:themeElements>
    <a:clrScheme name="FisioTeck">
      <a:dk1>
        <a:srgbClr val="10223A"/>
      </a:dk1>
      <a:lt1>
        <a:srgbClr val="FFFFFF"/>
      </a:lt1>
      <a:dk2>
        <a:srgbClr val="0A3E68"/>
      </a:dk2>
      <a:lt2>
        <a:srgbClr val="F2F6FA"/>
      </a:lt2>
      <a:accent1>
        <a:srgbClr val="0D5FA0"/>
      </a:accent1>
      <a:accent2>
        <a:srgbClr val="159E92"/>
      </a:accent2>
      <a:accent3>
        <a:srgbClr val="C2760B"/>
      </a:accent3>
      <a:accent4>
        <a:srgbClr val="2980B9"/>
      </a:accent4>
      <a:accent5>
        <a:srgbClr val="1ABC9C"/>
      </a:accent5>
      <a:accent6>
        <a:srgbClr val="E67E22"/>
      </a:accent6>
      <a:hlink>
        <a:srgbClr val="0D5FA0"/>
      </a:hlink>
      <a:folHlink>
        <a:srgbClr val="159E92"/>
      </a:folHlink>
    </a:clrScheme>
    <a:fontScheme name="FisioTeck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FisioTeck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Educación al Paciente con Dolor</dc:title>
  <dc:subject>Educación al Paciente con Dolor</dc:subject>
  <dc:creator>FisioTeck Club</dc:creator>
  <cp:lastModifiedBy>FisioTeck Club</cp:lastModifiedBy>
  <cp:revision>1</cp:revision>
  <dcterms:created xsi:type="dcterms:W3CDTF">2026-10-27T17:46:14Z</dcterms:created>
  <dcterms:modified xsi:type="dcterms:W3CDTF">2026-10-27T17:46:14Z</dcterms:modified>
</cp:coreProperties>
</file>